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3716000" cx="24384000"/>
  <p:notesSz cx="6858000" cy="9144000"/>
  <p:embeddedFontLst>
    <p:embeddedFont>
      <p:font typeface="Helvetica Neu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2fd2115b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f2fd2115b_0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f2fd2115b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f2fd2115b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f2fd2115b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f2fd2115b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f2fd2115b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f2fd2115b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f2fd2115b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f2fd2115b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 showMasterSp="0" type="title">
  <p:cSld name="TITLE">
    <p:bg>
      <p:bgPr>
        <a:gradFill>
          <a:gsLst>
            <a:gs pos="0">
              <a:srgbClr val="BF1238"/>
            </a:gs>
            <a:gs pos="100000">
              <a:srgbClr val="FA3061"/>
            </a:gs>
          </a:gsLst>
          <a:lin ang="5400000" scaled="0"/>
        </a:gra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000"/>
              <a:buFont typeface="Arial"/>
              <a:buNone/>
              <a:defRPr b="1" sz="10000">
                <a:solidFill>
                  <a:srgbClr val="FAFAF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2185751" y="12872825"/>
            <a:ext cx="594594" cy="5827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ement" showMasterSp="0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2510729" y="1487"/>
            <a:ext cx="21951654" cy="13713025"/>
          </a:xfrm>
          <a:prstGeom prst="rect">
            <a:avLst/>
          </a:prstGeom>
          <a:gradFill>
            <a:gsLst>
              <a:gs pos="0">
                <a:srgbClr val="BF1238"/>
              </a:gs>
              <a:gs pos="100000">
                <a:srgbClr val="FA3061"/>
              </a:gs>
            </a:gsLst>
            <a:lin ang="5400000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399332" y="5743878"/>
            <a:ext cx="20174448" cy="14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0"/>
              <a:buFont typeface="Arial"/>
              <a:buNone/>
              <a:defRPr sz="81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/>
          <p:nvPr/>
        </p:nvSpPr>
        <p:spPr>
          <a:xfrm>
            <a:off x="0" y="-50800"/>
            <a:ext cx="2489200" cy="138176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254000" rotWithShape="0" dir="20982190" dist="252542">
              <a:srgbClr val="000000">
                <a:alpha val="20392"/>
              </a:srgbClr>
            </a:outerShdw>
          </a:effectLst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Telecom_IPParis_RVB_fond_V.ai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4906" y="464557"/>
            <a:ext cx="1519388" cy="224598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2185751" y="12872825"/>
            <a:ext cx="594594" cy="5827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Sectio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12185751" y="12877058"/>
            <a:ext cx="594594" cy="582775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puces">
  <p:cSld name="Titre et puce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77975" y="464557"/>
            <a:ext cx="20510106" cy="224598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77975" y="4248503"/>
            <a:ext cx="19999525" cy="825601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244600" y="12755818"/>
            <a:ext cx="594594" cy="582775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tre titre et photo">
  <p:cSld name="Autre titre et phot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>
            <p:ph idx="2" type="pic"/>
          </p:nvPr>
        </p:nvSpPr>
        <p:spPr>
          <a:xfrm>
            <a:off x="11633200" y="-209550"/>
            <a:ext cx="12144837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3009205" y="1270000"/>
            <a:ext cx="7976295" cy="58822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009205" y="7557265"/>
            <a:ext cx="7976295" cy="529930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3800"/>
            </a:lvl1pPr>
            <a:lvl2pPr indent="-228600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3800"/>
            </a:lvl2pPr>
            <a:lvl3pPr indent="-228600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3800"/>
            </a:lvl3pPr>
            <a:lvl4pPr indent="-228600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3800"/>
            </a:lvl4pPr>
            <a:lvl5pPr indent="-228600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38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2185751" y="12877058"/>
            <a:ext cx="594594" cy="582775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, puces et photo">
  <p:cSld name="Titre, puces et photo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651" y="3029105"/>
            <a:ext cx="8445898" cy="947602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94157" lvl="0" marL="45720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FA3061"/>
              </a:buClr>
              <a:buSzPts val="4182"/>
              <a:buFont typeface="Arial"/>
              <a:buChar char="•"/>
              <a:defRPr sz="34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9pPr>
          </a:lstStyle>
          <a:p/>
        </p:txBody>
      </p:sp>
      <p:sp>
        <p:nvSpPr>
          <p:cNvPr id="33" name="Google Shape;33;p7"/>
          <p:cNvSpPr/>
          <p:nvPr>
            <p:ph idx="2" type="pic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2929632" y="1079500"/>
            <a:ext cx="8821936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2185751" y="12872825"/>
            <a:ext cx="594594" cy="5827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it important">
  <p:cSld name="Fait importa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2185751" y="12872825"/>
            <a:ext cx="594594" cy="5827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dre du jour">
  <p:cSld name="Ordre du jou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2858690" y="1079500"/>
            <a:ext cx="2031881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2858690" y="2931771"/>
            <a:ext cx="20318810" cy="957274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38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12185751" y="12872825"/>
            <a:ext cx="594594" cy="5827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photo" showMasterSp="0">
  <p:cSld name="Titre et photo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>
            <p:ph idx="2" type="pic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0"/>
              <a:buFont typeface="Arial"/>
              <a:buNone/>
              <a:defRPr sz="81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Arial"/>
              <a:buNone/>
              <a:defRPr sz="5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12185751" y="12872825"/>
            <a:ext cx="594594" cy="5827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ces">
  <p:cSld name="Puce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008411" y="4248503"/>
            <a:ext cx="20169089" cy="825601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94157" lvl="0" marL="45720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FA3061"/>
              </a:buClr>
              <a:buSzPts val="4182"/>
              <a:buFont typeface="Arial"/>
              <a:buChar char="•"/>
              <a:defRPr sz="3400"/>
            </a:lvl1pPr>
            <a:lvl2pPr indent="-494157" lvl="1" marL="91440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FA3061"/>
              </a:buClr>
              <a:buSzPts val="4182"/>
              <a:buFont typeface="Arial"/>
              <a:buChar char="•"/>
              <a:defRPr sz="3400"/>
            </a:lvl2pPr>
            <a:lvl3pPr indent="-494157" lvl="2" marL="137160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FA3061"/>
              </a:buClr>
              <a:buSzPts val="4182"/>
              <a:buFont typeface="Arial"/>
              <a:buChar char="•"/>
              <a:defRPr sz="3400"/>
            </a:lvl3pPr>
            <a:lvl4pPr indent="-494157" lvl="3" marL="182880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FA3061"/>
              </a:buClr>
              <a:buSzPts val="4182"/>
              <a:buFont typeface="Arial"/>
              <a:buChar char="•"/>
              <a:defRPr sz="3400"/>
            </a:lvl4pPr>
            <a:lvl5pPr indent="-494157" lvl="4" marL="228600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FA3061"/>
              </a:buClr>
              <a:buSzPts val="4182"/>
              <a:buFont typeface="Arial"/>
              <a:buChar char="•"/>
              <a:defRPr sz="34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12185751" y="12872825"/>
            <a:ext cx="594594" cy="5827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éclaration">
  <p:cSld name="Déclara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3272730" y="4920843"/>
            <a:ext cx="19904770" cy="3874314"/>
          </a:xfrm>
          <a:prstGeom prst="rect">
            <a:avLst/>
          </a:prstGeom>
          <a:solidFill>
            <a:srgbClr val="BF1238"/>
          </a:solidFill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12185751" y="12872825"/>
            <a:ext cx="594594" cy="5827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" showMasterSp="0">
  <p:cSld name="Citation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4800"/>
              <a:buFont typeface="Arial"/>
              <a:buNone/>
              <a:defRPr sz="4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SzPts val="2214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12185751" y="12872825"/>
            <a:ext cx="594594" cy="5827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 photos" showMasterSp="0">
  <p:cSld name="3 photo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>
            <p:ph idx="2" type="pic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4"/>
          <p:cNvSpPr/>
          <p:nvPr>
            <p:ph idx="3" type="pic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4"/>
          <p:cNvSpPr/>
          <p:nvPr>
            <p:ph idx="4" type="pic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12185751" y="12872825"/>
            <a:ext cx="594594" cy="5827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 showMasterSp="0">
  <p:cSld name="Photo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>
            <p:ph idx="2" type="pic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erge">
  <p:cSld name="Vierg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1244600" y="12793715"/>
            <a:ext cx="594594" cy="58277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-50800"/>
            <a:ext cx="2489200" cy="138176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254000" rotWithShape="0" dir="20982190" dist="252542">
              <a:srgbClr val="000000">
                <a:alpha val="20392"/>
              </a:srgbClr>
            </a:outerShdw>
          </a:effectLst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Telecom_IPParis_RVB_fond_V.ai" id="7" name="Google Shape;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84906" y="464557"/>
            <a:ext cx="1519388" cy="224598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type="title"/>
          </p:nvPr>
        </p:nvSpPr>
        <p:spPr>
          <a:xfrm>
            <a:off x="3177975" y="464557"/>
            <a:ext cx="20510106" cy="224598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7200"/>
              <a:buFont typeface="Arial"/>
              <a:buNone/>
              <a:defRPr b="0" i="0" sz="7200" u="none" cap="none" strike="noStrike">
                <a:solidFill>
                  <a:srgbClr val="BF12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7200"/>
              <a:buFont typeface="Arial"/>
              <a:buNone/>
              <a:defRPr b="0" i="0" sz="7200" u="none" cap="none" strike="noStrike">
                <a:solidFill>
                  <a:srgbClr val="BF123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7200"/>
              <a:buFont typeface="Arial"/>
              <a:buNone/>
              <a:defRPr b="0" i="0" sz="7200" u="none" cap="none" strike="noStrike">
                <a:solidFill>
                  <a:srgbClr val="BF123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7200"/>
              <a:buFont typeface="Arial"/>
              <a:buNone/>
              <a:defRPr b="0" i="0" sz="7200" u="none" cap="none" strike="noStrike">
                <a:solidFill>
                  <a:srgbClr val="BF123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7200"/>
              <a:buFont typeface="Arial"/>
              <a:buNone/>
              <a:defRPr b="0" i="0" sz="7200" u="none" cap="none" strike="noStrike">
                <a:solidFill>
                  <a:srgbClr val="BF123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7200"/>
              <a:buFont typeface="Arial"/>
              <a:buNone/>
              <a:defRPr b="0" i="0" sz="7200" u="none" cap="none" strike="noStrike">
                <a:solidFill>
                  <a:srgbClr val="BF123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7200"/>
              <a:buFont typeface="Arial"/>
              <a:buNone/>
              <a:defRPr b="0" i="0" sz="7200" u="none" cap="none" strike="noStrike">
                <a:solidFill>
                  <a:srgbClr val="BF123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7200"/>
              <a:buFont typeface="Arial"/>
              <a:buNone/>
              <a:defRPr b="0" i="0" sz="7200" u="none" cap="none" strike="noStrike">
                <a:solidFill>
                  <a:srgbClr val="BF123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7200"/>
              <a:buFont typeface="Arial"/>
              <a:buNone/>
              <a:defRPr b="0" i="0" sz="7200" u="none" cap="none" strike="noStrike">
                <a:solidFill>
                  <a:srgbClr val="BF12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3177975" y="4248503"/>
            <a:ext cx="19999525" cy="825601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572262" lvl="0" marL="457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BF1238"/>
              </a:buClr>
              <a:buSzPts val="5412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72262" lvl="1" marL="914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BF1238"/>
              </a:buClr>
              <a:buSzPts val="5412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72262" lvl="2" marL="1371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BF1238"/>
              </a:buClr>
              <a:buSzPts val="5412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72262" lvl="3" marL="1828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BF1238"/>
              </a:buClr>
              <a:buSzPts val="5412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72262" lvl="4" marL="22860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BF1238"/>
              </a:buClr>
              <a:buSzPts val="5412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72262" lvl="5" marL="2743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BF1238"/>
              </a:buClr>
              <a:buSzPts val="5412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72262" lvl="6" marL="3200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BF1238"/>
              </a:buClr>
              <a:buSzPts val="5412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72262" lvl="7" marL="3657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BF1238"/>
              </a:buClr>
              <a:buSzPts val="5412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72262" lvl="8" marL="4114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BF1238"/>
              </a:buClr>
              <a:buSzPts val="5412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244600" y="12755818"/>
            <a:ext cx="594594" cy="582775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idx="4294967295" type="ctrTitle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000"/>
              <a:buFont typeface="Arial"/>
              <a:buNone/>
            </a:pPr>
            <a:r>
              <a:rPr b="1" lang="en-US" sz="10000">
                <a:solidFill>
                  <a:srgbClr val="FAFAFA"/>
                </a:solidFill>
              </a:rPr>
              <a:t>Projet MLOPS</a:t>
            </a:r>
            <a:endParaRPr/>
          </a:p>
        </p:txBody>
      </p:sp>
      <p:sp>
        <p:nvSpPr>
          <p:cNvPr id="71" name="Google Shape;71;p17"/>
          <p:cNvSpPr txBox="1"/>
          <p:nvPr/>
        </p:nvSpPr>
        <p:spPr>
          <a:xfrm>
            <a:off x="1246667" y="7567717"/>
            <a:ext cx="12868200" cy="42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400"/>
              <a:buFont typeface="Arial"/>
              <a:buNone/>
            </a:pPr>
            <a:r>
              <a:rPr lang="en-US" sz="5400">
                <a:solidFill>
                  <a:srgbClr val="FAFAFA"/>
                </a:solidFill>
              </a:rPr>
              <a:t>Omar Abdillahi</a:t>
            </a:r>
            <a:endParaRPr sz="5400">
              <a:solidFill>
                <a:srgbClr val="FAFA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400"/>
              <a:buFont typeface="Arial"/>
              <a:buNone/>
            </a:pPr>
            <a:r>
              <a:rPr lang="en-US" sz="5400">
                <a:solidFill>
                  <a:srgbClr val="FAFAFA"/>
                </a:solidFill>
              </a:rPr>
              <a:t>Bagci Osman</a:t>
            </a:r>
            <a:endParaRPr sz="5400">
              <a:solidFill>
                <a:srgbClr val="FAFA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400"/>
              <a:buFont typeface="Arial"/>
              <a:buNone/>
            </a:pPr>
            <a:r>
              <a:rPr lang="en-US" sz="5400">
                <a:solidFill>
                  <a:srgbClr val="FAFAFA"/>
                </a:solidFill>
              </a:rPr>
              <a:t>Boutrouft Younes</a:t>
            </a:r>
            <a:endParaRPr sz="5400">
              <a:solidFill>
                <a:srgbClr val="FAFA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400"/>
              <a:buFont typeface="Arial"/>
              <a:buNone/>
            </a:pPr>
            <a:r>
              <a:rPr lang="en-US" sz="5400">
                <a:solidFill>
                  <a:srgbClr val="FAFAFA"/>
                </a:solidFill>
              </a:rPr>
              <a:t>SOP Leonnel Romuald</a:t>
            </a:r>
            <a:endParaRPr sz="5400">
              <a:solidFill>
                <a:srgbClr val="FAFA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400"/>
              <a:buFont typeface="Arial"/>
              <a:buNone/>
            </a:pPr>
            <a:r>
              <a:rPr lang="en-US" sz="5400">
                <a:solidFill>
                  <a:srgbClr val="FAFAFA"/>
                </a:solidFill>
              </a:rPr>
              <a:t>Kabbaj Mohamed</a:t>
            </a:r>
            <a:endParaRPr sz="5400">
              <a:solidFill>
                <a:srgbClr val="FAFAFA"/>
              </a:solidFill>
            </a:endParaRPr>
          </a:p>
        </p:txBody>
      </p:sp>
      <p:pic>
        <p:nvPicPr>
          <p:cNvPr descr="Logo_Telecom_IPParis_RVB_blanc_H.png" id="72" name="Google Shape;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1722" y="185330"/>
            <a:ext cx="12569008" cy="5876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idx="4294967295" type="sldNum"/>
          </p:nvPr>
        </p:nvSpPr>
        <p:spPr>
          <a:xfrm>
            <a:off x="1117582" y="12904277"/>
            <a:ext cx="241437" cy="360822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</a:rPr>
              <a:t>‹#›</a:t>
            </a:fld>
            <a:endParaRPr/>
          </a:p>
        </p:txBody>
      </p:sp>
      <p:pic>
        <p:nvPicPr>
          <p:cNvPr id="78" name="Google Shape;7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100" y="0"/>
            <a:ext cx="21586899" cy="114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8"/>
          <p:cNvSpPr txBox="1"/>
          <p:nvPr/>
        </p:nvSpPr>
        <p:spPr>
          <a:xfrm>
            <a:off x="4232500" y="12425875"/>
            <a:ext cx="13037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Dataset : plus de 2 millions de données</a:t>
            </a:r>
            <a:endParaRPr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300" y="3487051"/>
            <a:ext cx="14752275" cy="21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9"/>
          <p:cNvSpPr txBox="1"/>
          <p:nvPr/>
        </p:nvSpPr>
        <p:spPr>
          <a:xfrm>
            <a:off x="3779825" y="814800"/>
            <a:ext cx="13037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Dag Airflow</a:t>
            </a:r>
            <a:endParaRPr sz="4400"/>
          </a:p>
        </p:txBody>
      </p:sp>
      <p:pic>
        <p:nvPicPr>
          <p:cNvPr id="86" name="Google Shape;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3400" y="7408375"/>
            <a:ext cx="19744100" cy="128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/>
          <p:nvPr/>
        </p:nvSpPr>
        <p:spPr>
          <a:xfrm>
            <a:off x="18938350" y="2742526"/>
            <a:ext cx="9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Data processing</a:t>
            </a:r>
            <a:endParaRPr sz="3000"/>
          </a:p>
        </p:txBody>
      </p:sp>
      <p:sp>
        <p:nvSpPr>
          <p:cNvPr id="88" name="Google Shape;88;p19"/>
          <p:cNvSpPr txBox="1"/>
          <p:nvPr/>
        </p:nvSpPr>
        <p:spPr>
          <a:xfrm>
            <a:off x="18938350" y="6534750"/>
            <a:ext cx="9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Retrain_pipeline</a:t>
            </a:r>
            <a:endParaRPr sz="3000"/>
          </a:p>
        </p:txBody>
      </p:sp>
      <p:pic>
        <p:nvPicPr>
          <p:cNvPr id="89" name="Google Shape;8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2913" y="11107075"/>
            <a:ext cx="9325075" cy="17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8938350" y="10501676"/>
            <a:ext cx="97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Predict</a:t>
            </a:r>
            <a:endParaRPr sz="3000"/>
          </a:p>
        </p:txBody>
      </p:sp>
      <p:sp>
        <p:nvSpPr>
          <p:cNvPr id="91" name="Google Shape;91;p19"/>
          <p:cNvSpPr/>
          <p:nvPr/>
        </p:nvSpPr>
        <p:spPr>
          <a:xfrm>
            <a:off x="11430000" y="5658425"/>
            <a:ext cx="678900" cy="1522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11430000" y="9137800"/>
            <a:ext cx="678900" cy="1522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9175" y="2716050"/>
            <a:ext cx="20694476" cy="107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0"/>
          <p:cNvSpPr txBox="1"/>
          <p:nvPr/>
        </p:nvSpPr>
        <p:spPr>
          <a:xfrm>
            <a:off x="2909175" y="995875"/>
            <a:ext cx="13037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Métriques MLFlow</a:t>
            </a:r>
            <a:endParaRPr sz="4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350" y="2234750"/>
            <a:ext cx="9648000" cy="4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74175" y="2234750"/>
            <a:ext cx="9455288" cy="4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3500" y="7149350"/>
            <a:ext cx="12278136" cy="6261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2687350" y="565850"/>
            <a:ext cx="13037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Live time data - Graphana</a:t>
            </a:r>
            <a:endParaRPr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3675" y="0"/>
            <a:ext cx="13527552" cy="69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639" y="6949775"/>
            <a:ext cx="13351620" cy="667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2"/>
          <p:cNvSpPr txBox="1"/>
          <p:nvPr/>
        </p:nvSpPr>
        <p:spPr>
          <a:xfrm>
            <a:off x="16454650" y="5903700"/>
            <a:ext cx="7174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/>
              <a:t>Streamlit - transaction fraud detection</a:t>
            </a:r>
            <a:endParaRPr sz="5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4200" y="2622800"/>
            <a:ext cx="5699900" cy="1030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09077" y="2764375"/>
            <a:ext cx="5332473" cy="1030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/>
          <p:nvPr/>
        </p:nvSpPr>
        <p:spPr>
          <a:xfrm>
            <a:off x="3802450" y="588475"/>
            <a:ext cx="13037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Data drift detection</a:t>
            </a:r>
            <a:endParaRPr sz="4400"/>
          </a:p>
        </p:txBody>
      </p:sp>
      <p:sp>
        <p:nvSpPr>
          <p:cNvPr id="121" name="Google Shape;121;p23"/>
          <p:cNvSpPr/>
          <p:nvPr/>
        </p:nvSpPr>
        <p:spPr>
          <a:xfrm>
            <a:off x="10094625" y="6586400"/>
            <a:ext cx="4594500" cy="72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60873"/>
      </a:accent1>
      <a:accent2>
        <a:srgbClr val="1CF38B"/>
      </a:accent2>
      <a:accent3>
        <a:srgbClr val="F6CC46"/>
      </a:accent3>
      <a:accent4>
        <a:srgbClr val="BED1F1"/>
      </a:accent4>
      <a:accent5>
        <a:srgbClr val="FEEAEF"/>
      </a:accent5>
      <a:accent6>
        <a:srgbClr val="A5A5A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55555"/>
      </a:dk1>
      <a:lt1>
        <a:srgbClr val="FFFFFF"/>
      </a:lt1>
      <a:dk2>
        <a:srgbClr val="A7A7A7"/>
      </a:dk2>
      <a:lt2>
        <a:srgbClr val="535353"/>
      </a:lt2>
      <a:accent1>
        <a:srgbClr val="160873"/>
      </a:accent1>
      <a:accent2>
        <a:srgbClr val="1CF38B"/>
      </a:accent2>
      <a:accent3>
        <a:srgbClr val="F6CC46"/>
      </a:accent3>
      <a:accent4>
        <a:srgbClr val="BED1F1"/>
      </a:accent4>
      <a:accent5>
        <a:srgbClr val="FEEAEF"/>
      </a:accent5>
      <a:accent6>
        <a:srgbClr val="A5A5A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